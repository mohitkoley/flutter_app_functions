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6a05b611c4344a9" /><Relationship Type="http://schemas.openxmlformats.org/officeDocument/2006/relationships/extended-properties" Target="/docProps/app.xml" Id="Rd6c699a9efb14308" /><Relationship Type="http://schemas.openxmlformats.org/officeDocument/2006/relationships/officeDocument" Target="/ppt/presentation.xml" Id="R40bdfd17fad2421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a31728c1b0c48c7"/>
  </p:sldMasterIdLst>
  <p:notesMasterIdLst>
    <p:notesMasterId xmlns:r="http://schemas.openxmlformats.org/officeDocument/2006/relationships" r:id="R157bf84e76f845d4"/>
  </p:notesMasterIdLst>
  <p:sldIdLst>
    <p:sldId xmlns:r="http://schemas.openxmlformats.org/officeDocument/2006/relationships" id="256" r:id="R26c9cf5851c34d82"/>
    <p:sldId xmlns:r="http://schemas.openxmlformats.org/officeDocument/2006/relationships" id="257" r:id="R13300943ed514876"/>
    <p:sldId xmlns:r="http://schemas.openxmlformats.org/officeDocument/2006/relationships" id="258" r:id="Rb0d3461ed5df4941"/>
    <p:sldId xmlns:r="http://schemas.openxmlformats.org/officeDocument/2006/relationships" id="259" r:id="Rfe835a64860b4516"/>
    <p:sldId xmlns:r="http://schemas.openxmlformats.org/officeDocument/2006/relationships" id="260" r:id="R3b5cbec5a52a488a"/>
    <p:sldId xmlns:r="http://schemas.openxmlformats.org/officeDocument/2006/relationships" id="261" r:id="R00bbf4e5f09e420f"/>
    <p:sldId xmlns:r="http://schemas.openxmlformats.org/officeDocument/2006/relationships" id="262" r:id="Rf3dc3f2a0be64324"/>
    <p:sldId xmlns:r="http://schemas.openxmlformats.org/officeDocument/2006/relationships" id="263" r:id="R3f3fc2eee3154f3f"/>
    <p:sldId xmlns:r="http://schemas.openxmlformats.org/officeDocument/2006/relationships" id="264" r:id="R6f19d0b5d94c49ee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573a8cd51244b6a" /><Relationship Type="http://schemas.openxmlformats.org/officeDocument/2006/relationships/slideMaster" Target="/ppt/slideMasters/slideMaster1.xml" Id="Rca31728c1b0c48c7" /><Relationship Type="http://schemas.openxmlformats.org/officeDocument/2006/relationships/notesMaster" Target="/ppt/notesMasters/notesMaster1.xml" Id="R157bf84e76f845d4" /><Relationship Type="http://schemas.openxmlformats.org/officeDocument/2006/relationships/presProps" Target="/ppt/presProps.xml" Id="Ra89077b706aa4ef0" /><Relationship Type="http://schemas.openxmlformats.org/officeDocument/2006/relationships/tableStyles" Target="/ppt/tableStyles.xml" Id="R01af42f191144b63" /><Relationship Type="http://schemas.openxmlformats.org/officeDocument/2006/relationships/slide" Target="/ppt/slides/slide1.xml" Id="R26c9cf5851c34d82" /><Relationship Type="http://schemas.openxmlformats.org/officeDocument/2006/relationships/slide" Target="/ppt/slides/slide2.xml" Id="R13300943ed514876" /><Relationship Type="http://schemas.openxmlformats.org/officeDocument/2006/relationships/slide" Target="/ppt/slides/slide3.xml" Id="Rb0d3461ed5df4941" /><Relationship Type="http://schemas.openxmlformats.org/officeDocument/2006/relationships/slide" Target="/ppt/slides/slide4.xml" Id="Rfe835a64860b4516" /><Relationship Type="http://schemas.openxmlformats.org/officeDocument/2006/relationships/slide" Target="/ppt/slides/slide5.xml" Id="R3b5cbec5a52a488a" /><Relationship Type="http://schemas.openxmlformats.org/officeDocument/2006/relationships/slide" Target="/ppt/slides/slide6.xml" Id="R00bbf4e5f09e420f" /><Relationship Type="http://schemas.openxmlformats.org/officeDocument/2006/relationships/slide" Target="/ppt/slides/slide7.xml" Id="Rf3dc3f2a0be64324" /><Relationship Type="http://schemas.openxmlformats.org/officeDocument/2006/relationships/slide" Target="/ppt/slides/slide8.xml" Id="R3f3fc2eee3154f3f" /><Relationship Type="http://schemas.openxmlformats.org/officeDocument/2006/relationships/slide" Target="/ppt/slides/slide9.xml" Id="R6f19d0b5d94c49e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8054d0527024d0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f5299fc3a58451c" /><Relationship Type="http://schemas.openxmlformats.org/officeDocument/2006/relationships/notesMaster" Target="/ppt/notesMasters/notesMaster1.xml" Id="Rfbcab1b9ddd7409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8b39e5bbaf74099" /><Relationship Type="http://schemas.openxmlformats.org/officeDocument/2006/relationships/notesMaster" Target="/ppt/notesMasters/notesMaster1.xml" Id="R922b094dd9c9463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061c2ead80d4750" /><Relationship Type="http://schemas.openxmlformats.org/officeDocument/2006/relationships/notesMaster" Target="/ppt/notesMasters/notesMaster1.xml" Id="R5d920543c1cb489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bc456301a6d4e48" /><Relationship Type="http://schemas.openxmlformats.org/officeDocument/2006/relationships/notesMaster" Target="/ppt/notesMasters/notesMaster1.xml" Id="R01d87eb761594fe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e74649b319d4cfa" /><Relationship Type="http://schemas.openxmlformats.org/officeDocument/2006/relationships/notesMaster" Target="/ppt/notesMasters/notesMaster1.xml" Id="R3e3c46fdfdcc493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89bba253a5e404a" /><Relationship Type="http://schemas.openxmlformats.org/officeDocument/2006/relationships/notesMaster" Target="/ppt/notesMasters/notesMaster1.xml" Id="R92c9e40e37bd4bc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ff16e63ac994ba6" /><Relationship Type="http://schemas.openxmlformats.org/officeDocument/2006/relationships/notesMaster" Target="/ppt/notesMasters/notesMaster1.xml" Id="R316286f8932246c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e47bd78f8514093" /><Relationship Type="http://schemas.openxmlformats.org/officeDocument/2006/relationships/notesMaster" Target="/ppt/notesMasters/notesMaster1.xml" Id="R68356239b1204f0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f46e53999954a75" /><Relationship Type="http://schemas.openxmlformats.org/officeDocument/2006/relationships/notesMaster" Target="/ppt/notesMasters/notesMaster1.xml" Id="R24412133720b4ad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7d83eaa0364429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ee9769897ad4726" /><Relationship Type="http://schemas.openxmlformats.org/officeDocument/2006/relationships/slideLayout" Target="/ppt/slideLayouts/slideLayout1.xml" Id="R25e4dc0f53464af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5e4dc0f53464af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297a2839834db2" /><Relationship Type="http://schemas.openxmlformats.org/officeDocument/2006/relationships/image" Target="/ppt/media/image.png" Id="R8904e684b79e4512" /><Relationship Type="http://schemas.openxmlformats.org/officeDocument/2006/relationships/notesSlide" Target="/ppt/notesSlides/notesSlide1.xml" Id="R009f89399eeb492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47575b45334046" /><Relationship Type="http://schemas.openxmlformats.org/officeDocument/2006/relationships/notesSlide" Target="/ppt/notesSlides/notesSlide2.xml" Id="R0d0e232cead248f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34d454494e478c" /><Relationship Type="http://schemas.openxmlformats.org/officeDocument/2006/relationships/notesSlide" Target="/ppt/notesSlides/notesSlide3.xml" Id="Ra56e664412c34d9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5edf8ff48a49a1" /><Relationship Type="http://schemas.openxmlformats.org/officeDocument/2006/relationships/notesSlide" Target="/ppt/notesSlides/notesSlide4.xml" Id="Ra424cb937b70459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2eb15a0e5a4ef2" /><Relationship Type="http://schemas.openxmlformats.org/officeDocument/2006/relationships/notesSlide" Target="/ppt/notesSlides/notesSlide5.xml" Id="R402f54b0b5aa403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de57274ff5438a" /><Relationship Type="http://schemas.openxmlformats.org/officeDocument/2006/relationships/notesSlide" Target="/ppt/notesSlides/notesSlide6.xml" Id="Rebbeb4a651ec40f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6de41f338546e4" /><Relationship Type="http://schemas.openxmlformats.org/officeDocument/2006/relationships/notesSlide" Target="/ppt/notesSlides/notesSlide7.xml" Id="R30e17b29687b451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98da5052c143fd" /><Relationship Type="http://schemas.openxmlformats.org/officeDocument/2006/relationships/notesSlide" Target="/ppt/notesSlides/notesSlide8.xml" Id="R68f7701c21ba465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6affd6d56947da" /><Relationship Type="http://schemas.openxmlformats.org/officeDocument/2006/relationships/notesSlide" Target="/ppt/notesSlides/notesSlide9.xml" Id="R39d2a3535a624fb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04e684b79e4512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B4067D-C610-40B9-BC47-C7EABDEC3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429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88000"/>
            </a:srgbClr>
          </a:solidFill>
          <a:ln xmlns:a="http://schemas.openxmlformats.org/drawingml/2006/main" w="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D9BE73-946A-491B-9C1D-66967509A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4B5563"/>
                </a:solidFill>
              </a:defRPr>
            </a:pPr>
            <a:r>
              <a:rPr sz="1200" b="1">
                <a:solidFill>
                  <a:srgbClr val="4B5563"/>
                </a:solidFill>
              </a:rPr>
              <a:t>FLUTTERCON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541BF5-CE69-4D72-8522-F2BD01385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62100"/>
            <a:ext cx="4762500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0A0F14"/>
                </a:solidFill>
              </a:defRPr>
            </a:pPr>
            <a:r>
              <a:rPr sz="4350" b="1">
                <a:solidFill>
                  <a:srgbClr val="0A0F14"/>
                </a:solidFill>
              </a:rPr>
              <a:t>Flutter App Functions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911D23-7CB5-4704-A52E-8E8356460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409950"/>
            <a:ext cx="41719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111827"/>
                </a:solidFill>
              </a:defRPr>
            </a:pPr>
            <a:r>
              <a:rPr sz="1875">
                <a:solidFill>
                  <a:srgbClr val="111827"/>
                </a:solidFill>
              </a:rPr>
              <a:t>Expose Dart handlers as discoverable on-device Android App Functions.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458F93-5562-4569-A115-F7DC62949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753100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4B5563"/>
                </a:solidFill>
              </a:defRPr>
            </a:pPr>
            <a:r>
              <a:rPr sz="1350">
                <a:solidFill>
                  <a:srgbClr val="4B5563"/>
                </a:solidFill>
              </a:rPr>
              <a:t>Project showcase deck</a:t>
            </a:r>
          </a:p>
        </p:txBody>
      </p:sp>
    </p:spTree>
    <p:extLst>
      <p:ext uri="{BB962C8B-B14F-4D97-AF65-F5344CB8AC3E}">
        <p14:creationId xmlns:p14="http://schemas.microsoft.com/office/powerpoint/2010/main" val="80214172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C5EFCD8-4914-45C2-9102-9D88D41F4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4B5563"/>
                </a:solidFill>
              </a:defRPr>
            </a:pPr>
            <a:r>
              <a:rPr sz="1200" b="1">
                <a:solidFill>
                  <a:srgbClr val="4B5563"/>
                </a:solidFill>
              </a:rPr>
              <a:t>FLUTTERCON PROJECT SHOWCASE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66A4E4-2F0B-4DE2-9982-796593663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23900"/>
            <a:ext cx="9144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0A0F14"/>
                </a:solidFill>
              </a:defRPr>
            </a:pPr>
            <a:r>
              <a:rPr sz="3300" b="1">
                <a:solidFill>
                  <a:srgbClr val="0A0F14"/>
                </a:solidFill>
              </a:rPr>
              <a:t>The gap this project closes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E58AA0-6554-4385-A49E-DD554DE4F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240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E0FCE9-FC1A-4202-A591-15FCC072F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52625"/>
            <a:ext cx="4857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A0F14"/>
                </a:solidFill>
              </a:defRPr>
            </a:pPr>
            <a:r>
              <a:rPr sz="2250" b="1">
                <a:solidFill>
                  <a:srgbClr val="0A0F14"/>
                </a:solidFill>
              </a:rPr>
              <a:t>Android is making app capabilities callable by on-device agents, but Flutter apps still keep most product logic in Dart.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68F5CE-0BB0-4898-AFF8-F89441ACC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1336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438D91-94E7-4D3A-8471-54F838D0A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057400"/>
            <a:ext cx="47244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A0F14"/>
                </a:solidFill>
              </a:defRPr>
            </a:pPr>
            <a:r>
              <a:rPr sz="1650">
                <a:solidFill>
                  <a:srgbClr val="0A0F14"/>
                </a:solidFill>
              </a:rPr>
              <a:t>Native examples do not map cleanly to Flutter state, providers, stores, or existing Dart handlers.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17FFD7-71B2-45E4-A970-918212BF1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9527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73CB24-DBBF-45F2-AA34-BBC8B833F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876550"/>
            <a:ext cx="47244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A0F14"/>
                </a:solidFill>
              </a:defRPr>
            </a:pPr>
            <a:r>
              <a:rPr sz="1650">
                <a:solidFill>
                  <a:srgbClr val="0A0F14"/>
                </a:solidFill>
              </a:rPr>
              <a:t>Every new capability should not require another Kotlin rebuild path.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C38E61-509D-4FF9-A593-CB2910203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7719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F4DEBB-82F8-4C5F-97DA-F0A8FF26B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695700"/>
            <a:ext cx="47244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A0F14"/>
                </a:solidFill>
              </a:defRPr>
            </a:pPr>
            <a:r>
              <a:rPr sz="1650">
                <a:solidFill>
                  <a:srgbClr val="0A0F14"/>
                </a:solidFill>
              </a:rPr>
              <a:t>Agent calls need predictable typed errors, not ad hoc string failures.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860230-365C-4C69-83B0-397D64303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714750"/>
            <a:ext cx="50673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A"/>
          </a:solidFill>
          <a:ln xmlns:a="http://schemas.openxmlformats.org/drawingml/2006/main" w="0">
            <a:solidFill>
              <a:srgbClr val="F7F9F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3DD074-FCCA-44AB-9DA2-B86D674ED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A0F14"/>
                </a:solidFill>
              </a:defRPr>
            </a:pPr>
            <a:r>
              <a:rPr sz="1800" b="1">
                <a:solidFill>
                  <a:srgbClr val="0A0F14"/>
                </a:solidFill>
              </a:rPr>
              <a:t>Core idea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84C77E-9BF5-4C23-B7AE-E29EA945E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38650"/>
            <a:ext cx="4286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4B5563"/>
                </a:solidFill>
              </a:defRPr>
            </a:pPr>
            <a:r>
              <a:rPr sz="1650">
                <a:solidFill>
                  <a:srgbClr val="4B5563"/>
                </a:solidFill>
              </a:rPr>
              <a:t>Register once in Dart. Let Android discover a stable bridge. Keep the user-visible app state as the source of truth.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5F0FD9-7682-479E-A025-925350D0D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8650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>
                <a:solidFill>
                  <a:srgbClr val="4B5563"/>
                </a:solidFill>
              </a:defRPr>
            </a:pPr>
            <a:r>
              <a:rPr sz="1125">
                <a:solidFill>
                  <a:srgbClr val="4B5563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41232617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81A1837-1C93-4047-BF6D-A59C4AE48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4B5563"/>
                </a:solidFill>
              </a:defRPr>
            </a:pPr>
            <a:r>
              <a:rPr sz="1200" b="1">
                <a:solidFill>
                  <a:srgbClr val="4B5563"/>
                </a:solidFill>
              </a:rPr>
              <a:t>FLUTTERCON PROJECT SHOWCASE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3243E4-206C-4843-A5FE-9AB8D4C29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23900"/>
            <a:ext cx="9144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0A0F14"/>
                </a:solidFill>
              </a:defRPr>
            </a:pPr>
            <a:r>
              <a:rPr sz="3300" b="1">
                <a:solidFill>
                  <a:srgbClr val="0A0F14"/>
                </a:solidFill>
              </a:rPr>
              <a:t>What the package ships today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802872-60D8-4293-B6A3-33DED8BF3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240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465170-F0DC-409C-86E1-76609CD3E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38350"/>
            <a:ext cx="25717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3"/>
          </a:solidFill>
          <a:ln xmlns:a="http://schemas.openxmlformats.org/drawingml/2006/main" w="0">
            <a:solidFill>
              <a:srgbClr val="EEF2F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472309-9F61-4625-BEB9-D2E1AE5C4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86000"/>
            <a:ext cx="21145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0A0F14"/>
                </a:solidFill>
              </a:defRPr>
            </a:pPr>
            <a:r>
              <a:rPr sz="3750" b="1">
                <a:solidFill>
                  <a:srgbClr val="0A0F14"/>
                </a:solidFill>
              </a:rPr>
              <a:t>0.0.9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622A17-0BDE-487B-9F29-67D1217B3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48000"/>
            <a:ext cx="21145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A0F14"/>
                </a:solidFill>
              </a:defRPr>
            </a:pPr>
            <a:r>
              <a:rPr sz="1650" b="1">
                <a:solidFill>
                  <a:srgbClr val="0A0F14"/>
                </a:solidFill>
              </a:rPr>
              <a:t>Current package version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F28FFA-C2A0-4739-8F34-527291964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6004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4B5563"/>
                </a:solidFill>
              </a:defRPr>
            </a:pPr>
            <a:r>
              <a:rPr sz="1200">
                <a:solidFill>
                  <a:srgbClr val="4B5563"/>
                </a:solidFill>
              </a:rPr>
              <a:t>pubspec release metadata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0B79BE-3439-4B47-AB1A-D58668A01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038350"/>
            <a:ext cx="25717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3"/>
          </a:solidFill>
          <a:ln xmlns:a="http://schemas.openxmlformats.org/drawingml/2006/main" w="0">
            <a:solidFill>
              <a:srgbClr val="EEF2F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B80DC3-954F-4B57-BF4D-11FD9CC20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286000"/>
            <a:ext cx="21145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0A0F14"/>
                </a:solidFill>
              </a:defRPr>
            </a:pPr>
            <a:r>
              <a:rPr sz="3750" b="1">
                <a:solidFill>
                  <a:srgbClr val="0A0F14"/>
                </a:solidFill>
              </a:rPr>
              <a:t>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1B4C24-DEDA-4B0B-826A-805DA9B73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048000"/>
            <a:ext cx="21145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A0F14"/>
                </a:solidFill>
              </a:defRPr>
            </a:pPr>
            <a:r>
              <a:rPr sz="1650" b="1">
                <a:solidFill>
                  <a:srgbClr val="0A0F14"/>
                </a:solidFill>
              </a:rPr>
              <a:t>Typed parameter kinds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39DA65-4886-4F29-B3BC-58E3D2E0A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6004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4B5563"/>
                </a:solidFill>
              </a:defRPr>
            </a:pPr>
            <a:r>
              <a:rPr sz="1200">
                <a:solidFill>
                  <a:srgbClr val="4B5563"/>
                </a:solidFill>
              </a:rPr>
              <a:t>string, int64, double, bool, list, optional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2A8071-A261-4E64-95CD-8B8396F26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038350"/>
            <a:ext cx="25717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3"/>
          </a:solidFill>
          <a:ln xmlns:a="http://schemas.openxmlformats.org/drawingml/2006/main" w="0">
            <a:solidFill>
              <a:srgbClr val="EEF2F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A6B040-A80A-460A-A20E-4DC04D731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286000"/>
            <a:ext cx="21145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0A0F14"/>
                </a:solidFill>
              </a:defRPr>
            </a:pPr>
            <a:r>
              <a:rPr sz="3750" b="1">
                <a:solidFill>
                  <a:srgbClr val="0A0F14"/>
                </a:solidFill>
              </a:rPr>
              <a:t>7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1DBB4E-F0E3-4318-BA06-4F8D44908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048000"/>
            <a:ext cx="21145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A0F14"/>
                </a:solidFill>
              </a:defRPr>
            </a:pPr>
            <a:r>
              <a:rPr sz="1650" b="1">
                <a:solidFill>
                  <a:srgbClr val="0A0F14"/>
                </a:solidFill>
              </a:rPr>
              <a:t>Mirrored error types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64A1F6-E0B6-4F64-9648-09792E3F1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6004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4B5563"/>
                </a:solidFill>
              </a:defRPr>
            </a:pPr>
            <a:r>
              <a:rPr sz="1200">
                <a:solidFill>
                  <a:srgbClr val="4B5563"/>
                </a:solidFill>
              </a:rPr>
              <a:t>Android AppFunction exceptions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3C772B8-F556-434D-9801-E13B4FCC9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038350"/>
            <a:ext cx="25336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3"/>
          </a:solidFill>
          <a:ln xmlns:a="http://schemas.openxmlformats.org/drawingml/2006/main" w="0">
            <a:solidFill>
              <a:srgbClr val="EEF2F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CA1B5E1-BA1C-49E6-828D-354EFAC0E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286000"/>
            <a:ext cx="20764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0A0F14"/>
                </a:solidFill>
              </a:defRPr>
            </a:pPr>
            <a:r>
              <a:rPr sz="3750" b="1">
                <a:solidFill>
                  <a:srgbClr val="0A0F14"/>
                </a:solidFill>
              </a:rPr>
              <a:t>22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A379550-26A8-4A04-9A71-0FF9CF0D4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3048000"/>
            <a:ext cx="2076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A0F14"/>
                </a:solidFill>
              </a:defRPr>
            </a:pPr>
            <a:r>
              <a:rPr sz="1650" b="1">
                <a:solidFill>
                  <a:srgbClr val="0A0F14"/>
                </a:solidFill>
              </a:rPr>
              <a:t>Passing Dart tests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1B9014-D4BC-4D58-A3CF-1D72C1EA8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3600450"/>
            <a:ext cx="2076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4B5563"/>
                </a:solidFill>
              </a:defRPr>
            </a:pPr>
            <a:r>
              <a:rPr sz="1200">
                <a:solidFill>
                  <a:srgbClr val="4B5563"/>
                </a:solidFill>
              </a:rPr>
              <a:t>flutter test verification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27821A5-86AA-4843-B248-E7CA8902F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57850"/>
            <a:ext cx="9810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4B5563"/>
                </a:solidFill>
              </a:defRPr>
            </a:pPr>
            <a:r>
              <a:rPr sz="1500">
                <a:solidFill>
                  <a:srgbClr val="4B5563"/>
                </a:solidFill>
              </a:rPr>
              <a:t>Android only: min SDK 24, compile SDK 36, AndroidX appfunctions 1.0.0-alpha09, Flutter 3.3.0+ / Dart 3.12.0+.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C8AE675-7267-4F96-AA0C-3DEB3B35D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8650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>
                <a:solidFill>
                  <a:srgbClr val="4B5563"/>
                </a:solidFill>
              </a:defRPr>
            </a:pPr>
            <a:r>
              <a:rPr sz="1125">
                <a:solidFill>
                  <a:srgbClr val="4B5563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40516864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3BA541D-5BDE-468D-8715-A1D0B8C71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4B5563"/>
                </a:solidFill>
              </a:defRPr>
            </a:pPr>
            <a:r>
              <a:rPr sz="1200" b="1">
                <a:solidFill>
                  <a:srgbClr val="4B5563"/>
                </a:solidFill>
              </a:rPr>
              <a:t>FLUTTERCON PROJECT SHOWCASE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4159ED-F96B-4996-A658-FCC278B08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23900"/>
            <a:ext cx="9144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0A0F14"/>
                </a:solidFill>
              </a:defRPr>
            </a:pPr>
            <a:r>
              <a:rPr sz="3300" b="1">
                <a:solidFill>
                  <a:srgbClr val="0A0F14"/>
                </a:solidFill>
              </a:rPr>
              <a:t>Architecture: one native entry point, many Dart tools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FE0BEE-C2DD-437D-BB5D-88B3830CB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240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980EEA-3C04-4C84-B757-20E6B2796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33650"/>
            <a:ext cx="21717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3"/>
          </a:solidFill>
          <a:ln xmlns:a="http://schemas.openxmlformats.org/drawingml/2006/main" w="0">
            <a:solidFill>
              <a:srgbClr val="EEF2F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512837-7D12-4BF5-ACE7-3B52BE1E2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19400"/>
            <a:ext cx="1752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A0F14"/>
                </a:solidFill>
              </a:defRPr>
            </a:pPr>
            <a:r>
              <a:rPr sz="1875" b="1">
                <a:solidFill>
                  <a:srgbClr val="0A0F14"/>
                </a:solidFill>
              </a:rPr>
              <a:t>Agent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8CBB62-7B4E-4085-9E44-4B1E8D62E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52800"/>
            <a:ext cx="1752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4B5563"/>
                </a:solidFill>
              </a:defRPr>
            </a:pPr>
            <a:r>
              <a:rPr sz="1350">
                <a:solidFill>
                  <a:srgbClr val="4B5563"/>
                </a:solidFill>
              </a:rPr>
              <a:t>Gemini or any caller using Android App Functions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75EF9E-832B-4DAB-AD37-CFA441390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533650"/>
            <a:ext cx="21717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3"/>
          </a:solidFill>
          <a:ln xmlns:a="http://schemas.openxmlformats.org/drawingml/2006/main" w="0">
            <a:solidFill>
              <a:srgbClr val="EEF2F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18B384-094A-4AA4-B64F-3AF1B9E4E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819400"/>
            <a:ext cx="1752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A0F14"/>
                </a:solidFill>
              </a:defRPr>
            </a:pPr>
            <a:r>
              <a:rPr sz="1875" b="1">
                <a:solidFill>
                  <a:srgbClr val="0A0F14"/>
                </a:solidFill>
              </a:rPr>
              <a:t>Android runtime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9289AC-B9C2-4A03-B095-274F026B8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352800"/>
            <a:ext cx="1752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4B5563"/>
                </a:solidFill>
              </a:defRPr>
            </a:pPr>
            <a:r>
              <a:rPr sz="1350">
                <a:solidFill>
                  <a:srgbClr val="4B5563"/>
                </a:solidFill>
              </a:rPr>
              <a:t>Discovers @AppFunction executeAppFunction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6A6E19-9D3B-4CD5-B94F-597CBD62D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533650"/>
            <a:ext cx="21717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3"/>
          </a:solidFill>
          <a:ln xmlns:a="http://schemas.openxmlformats.org/drawingml/2006/main" w="0">
            <a:solidFill>
              <a:srgbClr val="EEF2F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C06022-C256-4E88-8BD3-F011CD3F1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819400"/>
            <a:ext cx="1752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A0F14"/>
                </a:solidFill>
              </a:defRPr>
            </a:pPr>
            <a:r>
              <a:rPr sz="1875" b="1">
                <a:solidFill>
                  <a:srgbClr val="0A0F14"/>
                </a:solidFill>
              </a:rPr>
              <a:t>Kotlin bridge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5143E5-6DD2-4706-88A1-FC75D8050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352800"/>
            <a:ext cx="1752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4B5563"/>
                </a:solidFill>
              </a:defRPr>
            </a:pPr>
            <a:r>
              <a:rPr sz="1350">
                <a:solidFill>
                  <a:srgbClr val="4B5563"/>
                </a:solidFill>
              </a:rPr>
              <a:t>Forwards functionId + parametersJson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85FEEC-254E-4E56-9C5D-A7976C8F1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533650"/>
            <a:ext cx="21717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3"/>
          </a:solidFill>
          <a:ln xmlns:a="http://schemas.openxmlformats.org/drawingml/2006/main" w="0">
            <a:solidFill>
              <a:srgbClr val="EEF2F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C259F2-F010-4102-96CE-FF77852A2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819400"/>
            <a:ext cx="1752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A0F14"/>
                </a:solidFill>
              </a:defRPr>
            </a:pPr>
            <a:r>
              <a:rPr sz="1875" b="1">
                <a:solidFill>
                  <a:srgbClr val="0A0F14"/>
                </a:solidFill>
              </a:rPr>
              <a:t>Dart registry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3581AF-9E41-43A6-A6DE-B9D7EC58C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352800"/>
            <a:ext cx="1752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4B5563"/>
                </a:solidFill>
              </a:defRPr>
            </a:pPr>
            <a:r>
              <a:rPr sz="1350">
                <a:solidFill>
                  <a:srgbClr val="4B5563"/>
                </a:solidFill>
              </a:rPr>
              <a:t>Validates, invokes handler, returns JSON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EF89EA-C782-4154-9278-45046C928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390900"/>
            <a:ext cx="533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B8A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768C9D-4862-4AB8-A2C0-1139D1AC2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390900"/>
            <a:ext cx="533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B8A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9759CC7-C9C8-4FCA-98E0-6A6D1EB76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390900"/>
            <a:ext cx="533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B8A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95064F1-8B96-4922-899D-864288494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048250"/>
            <a:ext cx="10096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A0F14"/>
                </a:solidFill>
              </a:defRPr>
            </a:pPr>
            <a:r>
              <a:rPr sz="1950" b="1">
                <a:solidFill>
                  <a:srgbClr val="0A0F14"/>
                </a:solidFill>
              </a:rPr>
              <a:t>Why this matters: app teams add or remove capabilities in Dart without duplicating business logic in Kotlin.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30CBEDE-937D-424C-ACB7-7E5626EA5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8650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>
                <a:solidFill>
                  <a:srgbClr val="4B5563"/>
                </a:solidFill>
              </a:defRPr>
            </a:pPr>
            <a:r>
              <a:rPr sz="1125">
                <a:solidFill>
                  <a:srgbClr val="4B5563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40469282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63FAB0A-E540-4C76-9E9B-11087850D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4B5563"/>
                </a:solidFill>
              </a:defRPr>
            </a:pPr>
            <a:r>
              <a:rPr sz="1200" b="1">
                <a:solidFill>
                  <a:srgbClr val="4B5563"/>
                </a:solidFill>
              </a:rPr>
              <a:t>FLUTTERCON PROJECT SHOWCASE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9ED1B3-7379-4690-A32C-BBD593303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23900"/>
            <a:ext cx="9144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0A0F14"/>
                </a:solidFill>
              </a:defRPr>
            </a:pPr>
            <a:r>
              <a:rPr sz="3300" b="1">
                <a:solidFill>
                  <a:srgbClr val="0A0F14"/>
                </a:solidFill>
              </a:rPr>
              <a:t>The developer experience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766048-8F63-4E8A-9913-B699D8A6C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240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B130EB-92FD-454D-996D-D1ECAFB52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62150"/>
            <a:ext cx="5962650" cy="3752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11182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DF0EDE-A838-4D4A-88BB-9E5996CC7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5543550" cy="3371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>FlutterAppFunctions.instance.register(</a:t>
            </a:r>
          </a:p>
          <a:p xmlns:a="http://schemas.openxmlformats.org/drawingml/2006/main">
            <a:pPr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>  AppFunctionDefinition(</a:t>
            </a:r>
          </a:p>
          <a:p xmlns:a="http://schemas.openxmlformats.org/drawingml/2006/main">
            <a:pPr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>    id: 'createTask',</a:t>
            </a:r>
          </a:p>
          <a:p xmlns:a="http://schemas.openxmlformats.org/drawingml/2006/main">
            <a:pPr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>    description: 'Creates a task.',</a:t>
            </a:r>
          </a:p>
          <a:p xmlns:a="http://schemas.openxmlformats.org/drawingml/2006/main">
            <a:pPr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>    parameters: [</a:t>
            </a:r>
          </a:p>
          <a:p xmlns:a="http://schemas.openxmlformats.org/drawingml/2006/main">
            <a:pPr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>      AppFunctionParameter.string('title'),</a:t>
            </a:r>
          </a:p>
          <a:p xmlns:a="http://schemas.openxmlformats.org/drawingml/2006/main">
            <a:pPr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>      AppFunctionParameter.optionalString('notes'),</a:t>
            </a:r>
          </a:p>
          <a:p xmlns:a="http://schemas.openxmlformats.org/drawingml/2006/main">
            <a:pPr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>    ],</a:t>
            </a:r>
          </a:p>
          <a:p xmlns:a="http://schemas.openxmlformats.org/drawingml/2006/main">
            <a:pPr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>    returnType: AppFunctionReturnType.string,</a:t>
            </a:r>
          </a:p>
          <a:p xmlns:a="http://schemas.openxmlformats.org/drawingml/2006/main">
            <a:pPr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>    handler: (ctx, params) async {</a:t>
            </a:r>
          </a:p>
          <a:p xmlns:a="http://schemas.openxmlformats.org/drawingml/2006/main">
            <a:pPr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>      return 'Created: ${params['title']}';</a:t>
            </a:r>
          </a:p>
          <a:p xmlns:a="http://schemas.openxmlformats.org/drawingml/2006/main">
            <a:pPr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>    },</a:t>
            </a:r>
          </a:p>
          <a:p xmlns:a="http://schemas.openxmlformats.org/drawingml/2006/main">
            <a:pPr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>  ),</a:t>
            </a:r>
          </a:p>
          <a:p xmlns:a="http://schemas.openxmlformats.org/drawingml/2006/main">
            <a:pPr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>);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B0D64E-6489-4765-A541-C3993A510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3050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DC84"/>
          </a:solidFill>
          <a:ln xmlns:a="http://schemas.openxmlformats.org/drawingml/2006/main" w="0">
            <a:solidFill>
              <a:srgbClr val="3DDC8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61CEB8-6F86-4CEE-BBA4-990071A03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228850"/>
            <a:ext cx="4114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A0F14"/>
                </a:solidFill>
              </a:defRPr>
            </a:pPr>
            <a:r>
              <a:rPr sz="1650">
                <a:solidFill>
                  <a:srgbClr val="0A0F14"/>
                </a:solidFill>
              </a:rPr>
              <a:t>Function definition is plain Dart: id, description, parameters, return type, handler.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C0F51E-DF12-4D95-83E0-933307539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1813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DC84"/>
          </a:solidFill>
          <a:ln xmlns:a="http://schemas.openxmlformats.org/drawingml/2006/main" w="0">
            <a:solidFill>
              <a:srgbClr val="3DDC8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7A1FA9-BC0D-4499-BE5E-A076D932C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105150"/>
            <a:ext cx="4114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A0F14"/>
                </a:solidFill>
              </a:defRPr>
            </a:pPr>
            <a:r>
              <a:rPr sz="1650">
                <a:solidFill>
                  <a:srgbClr val="0A0F14"/>
                </a:solidFill>
              </a:rPr>
              <a:t>Registry validates required fields, unknown parameters, enum values, and scalar types.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DD1B6C-50DD-4001-B172-58148C6C0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0576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DC84"/>
          </a:solidFill>
          <a:ln xmlns:a="http://schemas.openxmlformats.org/drawingml/2006/main" w="0">
            <a:solidFill>
              <a:srgbClr val="3DDC8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4861F5-B6D3-493C-BF6A-2536BE8DA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981450"/>
            <a:ext cx="4114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A0F14"/>
                </a:solidFill>
              </a:defRPr>
            </a:pPr>
            <a:r>
              <a:rPr sz="1650">
                <a:solidFill>
                  <a:srgbClr val="0A0F14"/>
                </a:solidFill>
              </a:rPr>
              <a:t>Handlers can mutate the same Flutter app state the visible UI already uses.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A7C91E-DEFD-413E-9442-33D366B22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8650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>
                <a:solidFill>
                  <a:srgbClr val="4B5563"/>
                </a:solidFill>
              </a:defRPr>
            </a:pPr>
            <a:r>
              <a:rPr sz="1125">
                <a:solidFill>
                  <a:srgbClr val="4B5563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27860922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59AFB4C-4B5B-4F8A-9B1E-3C51F01B3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4B5563"/>
                </a:solidFill>
              </a:defRPr>
            </a:pPr>
            <a:r>
              <a:rPr sz="1200" b="1">
                <a:solidFill>
                  <a:srgbClr val="4B5563"/>
                </a:solidFill>
              </a:rPr>
              <a:t>FLUTTERCON PROJECT SHOWCASE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2D2892-0F72-420F-ACBB-CA69D1301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23900"/>
            <a:ext cx="9144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0A0F14"/>
                </a:solidFill>
              </a:defRPr>
            </a:pPr>
            <a:r>
              <a:rPr sz="3300" b="1">
                <a:solidFill>
                  <a:srgbClr val="0A0F14"/>
                </a:solidFill>
              </a:rPr>
              <a:t>Android host wiring stays small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9D6D3A-F2D8-4ED7-8311-C20E90833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240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C9B314-ED0F-457F-94B8-E0DAB527A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38350"/>
            <a:ext cx="49530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11182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5EEF28-0838-42C9-9E70-24DFA436B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28850"/>
            <a:ext cx="45339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>class MyApplication :</a:t>
            </a:r>
          </a:p>
          <a:p xmlns:a="http://schemas.openxmlformats.org/drawingml/2006/main">
            <a:pPr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>    FlutterAppFunctionsApplication()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>&lt;application</a:t>
            </a:r>
          </a:p>
          <a:p xmlns:a="http://schemas.openxmlformats.org/drawingml/2006/main">
            <a:pPr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>  android:name=".MyApplication"</a:t>
            </a:r>
          </a:p>
          <a:p xmlns:a="http://schemas.openxmlformats.org/drawingml/2006/main">
            <a:pPr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>  appfn:description="@string/appfn_description"</a:t>
            </a:r>
          </a:p>
          <a:p xmlns:a="http://schemas.openxmlformats.org/drawingml/2006/main">
            <a:pPr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>  appfn:displayDescription="@string/appfn_display_description"&gt;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397A3A-B45B-463B-A1B2-8C5EF0C62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038350"/>
            <a:ext cx="44767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A"/>
          </a:solidFill>
          <a:ln xmlns:a="http://schemas.openxmlformats.org/drawingml/2006/main" w="0">
            <a:solidFill>
              <a:srgbClr val="F7F9F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3EE422-FEF7-4D41-A1C8-93E0EF354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476500"/>
            <a:ext cx="3714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A0F14"/>
                </a:solidFill>
              </a:defRPr>
            </a:pPr>
            <a:r>
              <a:rPr sz="1950" b="1">
                <a:solidFill>
                  <a:srgbClr val="0A0F14"/>
                </a:solidFill>
              </a:rPr>
              <a:t>The plugin contributes the Android service, metadata XML, App Functions permission, MethodChannel, KSP setup, and bridge registration base class.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23149D-523B-419E-870D-C683EAE66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981450"/>
            <a:ext cx="3543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4B5563"/>
                </a:solidFill>
              </a:defRPr>
            </a:pPr>
            <a:r>
              <a:rPr sz="1425">
                <a:solidFill>
                  <a:srgbClr val="4B5563"/>
                </a:solidFill>
              </a:rPr>
              <a:t>Host apps only provide app-specific descriptions and extend the base Application class.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3BA1B7-0CB6-455A-8892-5ACF54E8B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8650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>
                <a:solidFill>
                  <a:srgbClr val="4B5563"/>
                </a:solidFill>
              </a:defRPr>
            </a:pPr>
            <a:r>
              <a:rPr sz="1125">
                <a:solidFill>
                  <a:srgbClr val="4B5563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21056426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AE563BF-A8ED-4A28-8485-CBDB777DE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4B5563"/>
                </a:solidFill>
              </a:defRPr>
            </a:pPr>
            <a:r>
              <a:rPr sz="1200" b="1">
                <a:solidFill>
                  <a:srgbClr val="4B5563"/>
                </a:solidFill>
              </a:rPr>
              <a:t>FLUTTERCON PROJECT SHOWCASE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220F20-507D-42EA-87E2-8208B2176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23900"/>
            <a:ext cx="9144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0A0F14"/>
                </a:solidFill>
              </a:defRPr>
            </a:pPr>
            <a:r>
              <a:rPr sz="3300" b="1">
                <a:solidFill>
                  <a:srgbClr val="0A0F14"/>
                </a:solidFill>
              </a:rPr>
              <a:t>FlutterCon demo path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59BBD9-AABB-4B20-87DC-3D5D20736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240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595B5C-61D7-409A-A179-9CB140B01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90750"/>
            <a:ext cx="2381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AF7"/>
          </a:solidFill>
          <a:ln xmlns:a="http://schemas.openxmlformats.org/drawingml/2006/main" w="0">
            <a:solidFill>
              <a:srgbClr val="E8FAF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79E00B-3113-4AEA-B15B-ED4B69BE3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81250"/>
            <a:ext cx="666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00B8A9"/>
                </a:solidFill>
              </a:defRPr>
            </a:pPr>
            <a:r>
              <a:rPr sz="3900" b="1">
                <a:solidFill>
                  <a:srgbClr val="00B8A9"/>
                </a:solidFill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231EEE-7E68-4F74-B331-3B379607D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10515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A0F14"/>
                </a:solidFill>
              </a:defRPr>
            </a:pPr>
            <a:r>
              <a:rPr sz="1875" b="1">
                <a:solidFill>
                  <a:srgbClr val="0A0F14"/>
                </a:solidFill>
              </a:rPr>
              <a:t>Prompt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3D25C2-5BBD-40CE-8A10-D71AA0300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81400"/>
            <a:ext cx="19240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4B5563"/>
                </a:solidFill>
              </a:defRPr>
            </a:pPr>
            <a:r>
              <a:rPr sz="1350">
                <a:solidFill>
                  <a:srgbClr val="4B5563"/>
                </a:solidFill>
              </a:rPr>
              <a:t>Remind me to pick up my package at work today at 5 PM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15CEEE-8ADB-4178-AA32-F2A1E0E48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381375"/>
            <a:ext cx="476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B8A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861C9D-DD97-4235-BFD2-3C09B5B9E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190750"/>
            <a:ext cx="2381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3"/>
          </a:solidFill>
          <a:ln xmlns:a="http://schemas.openxmlformats.org/drawingml/2006/main" w="0">
            <a:solidFill>
              <a:srgbClr val="EEF2F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2D1A38-A35E-42E3-8E21-545EE1CEB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381250"/>
            <a:ext cx="666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0A0F14"/>
                </a:solidFill>
              </a:defRPr>
            </a:pPr>
            <a:r>
              <a:rPr sz="3900" b="1">
                <a:solidFill>
                  <a:srgbClr val="0A0F14"/>
                </a:solidFill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66E98D-5302-4114-85FA-D17E25237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10515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A0F14"/>
                </a:solidFill>
              </a:defRPr>
            </a:pPr>
            <a:r>
              <a:rPr sz="1875" b="1">
                <a:solidFill>
                  <a:srgbClr val="0A0F14"/>
                </a:solidFill>
              </a:rPr>
              <a:t>Plan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DD83C0-8B65-4839-B7BE-AA4442AC2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581400"/>
            <a:ext cx="19240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4B5563"/>
                </a:solidFill>
              </a:defRPr>
            </a:pPr>
            <a:r>
              <a:rPr sz="1350">
                <a:solidFill>
                  <a:srgbClr val="4B5563"/>
                </a:solidFill>
              </a:rPr>
              <a:t>Demo agent maps prompt to createTask + JSON parameters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925DA5-6809-4B12-82C1-65768F84A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381375"/>
            <a:ext cx="476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B8A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123214B-5063-491C-AD59-F47FEF000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190750"/>
            <a:ext cx="2381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3"/>
          </a:solidFill>
          <a:ln xmlns:a="http://schemas.openxmlformats.org/drawingml/2006/main" w="0">
            <a:solidFill>
              <a:srgbClr val="EEF2F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625F99-AB82-4B0B-9372-6D1B01119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381250"/>
            <a:ext cx="666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0A0F14"/>
                </a:solidFill>
              </a:defRPr>
            </a:pPr>
            <a:r>
              <a:rPr sz="3900" b="1">
                <a:solidFill>
                  <a:srgbClr val="0A0F14"/>
                </a:solidFill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AB701A-69D5-488B-9091-4ADAAADCC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10515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A0F14"/>
                </a:solidFill>
              </a:defRPr>
            </a:pPr>
            <a:r>
              <a:rPr sz="1875" b="1">
                <a:solidFill>
                  <a:srgbClr val="0A0F14"/>
                </a:solidFill>
              </a:rPr>
              <a:t>Invoke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B0EA825-1014-4590-8084-6A0AB7545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581400"/>
            <a:ext cx="19240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4B5563"/>
                </a:solidFill>
              </a:defRPr>
            </a:pPr>
            <a:r>
              <a:rPr sz="1350">
                <a:solidFill>
                  <a:srgbClr val="4B5563"/>
                </a:solidFill>
              </a:rPr>
              <a:t>FlutterAppFunctions.instance.invoke hits the same registry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B89FDFA-784F-4BBC-B2D5-F52A7469E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381375"/>
            <a:ext cx="476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B8A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246E6F-D773-467B-9D35-B6CC7B68A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190750"/>
            <a:ext cx="2381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3"/>
          </a:solidFill>
          <a:ln xmlns:a="http://schemas.openxmlformats.org/drawingml/2006/main" w="0">
            <a:solidFill>
              <a:srgbClr val="EEF2F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04C872F-D6C7-432F-8AB4-CC3F7DEDA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381250"/>
            <a:ext cx="666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0A0F14"/>
                </a:solidFill>
              </a:defRPr>
            </a:pPr>
            <a:r>
              <a:rPr sz="3900" b="1">
                <a:solidFill>
                  <a:srgbClr val="0A0F14"/>
                </a:solidFill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72727FD-3945-413E-A9BD-47AE6B4F6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10515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A0F14"/>
                </a:solidFill>
              </a:defRPr>
            </a:pPr>
            <a:r>
              <a:rPr sz="1875" b="1">
                <a:solidFill>
                  <a:srgbClr val="0A0F14"/>
                </a:solidFill>
              </a:rPr>
              <a:t>Update UI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BE188C2-6AB7-4BBC-B299-9C8353821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581400"/>
            <a:ext cx="19240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4B5563"/>
                </a:solidFill>
              </a:defRPr>
            </a:pPr>
            <a:r>
              <a:rPr sz="1350">
                <a:solidFill>
                  <a:srgbClr val="4B5563"/>
                </a:solidFill>
              </a:rPr>
              <a:t>Demo store mutates, logs result, visible app state rebuilds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A8CE424-7269-4E97-AD9D-126BDA76D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72100"/>
            <a:ext cx="942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111827"/>
                </a:solidFill>
              </a:defRPr>
            </a:pPr>
            <a:r>
              <a:rPr sz="1650">
                <a:solidFill>
                  <a:srgbClr val="111827"/>
                </a:solidFill>
              </a:rPr>
              <a:t>Example app registers: createTask, addItemsToShoppingList, completeTask, summarizeToday.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41EDE06-7B13-4053-B733-41D2C99B3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8650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>
                <a:solidFill>
                  <a:srgbClr val="4B5563"/>
                </a:solidFill>
              </a:defRPr>
            </a:pPr>
            <a:r>
              <a:rPr sz="1125">
                <a:solidFill>
                  <a:srgbClr val="4B5563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10501825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A72B5EB-B4C8-4EA8-9F84-9EAC8E6DD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4B5563"/>
                </a:solidFill>
              </a:defRPr>
            </a:pPr>
            <a:r>
              <a:rPr sz="1200" b="1">
                <a:solidFill>
                  <a:srgbClr val="4B5563"/>
                </a:solidFill>
              </a:rPr>
              <a:t>FLUTTERCON PROJECT SHOWCASE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7B79B7-57FC-47FF-A4C5-EA33A1AAC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23900"/>
            <a:ext cx="9144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0A0F14"/>
                </a:solidFill>
              </a:defRPr>
            </a:pPr>
            <a:r>
              <a:rPr sz="3300" b="1">
                <a:solidFill>
                  <a:srgbClr val="0A0F14"/>
                </a:solidFill>
              </a:rPr>
              <a:t>Reliability comes from matching Android semantics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6383EF-B279-46EE-81C6-8A14E2D96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240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graphicFrame>
        <p:nvGraphicFramePr>
          <p:cNvPr id="15" name=""/>
          <p:cNvGraphicFramePr/>
          <p:nvPr/>
        </p:nvGraphicFramePr>
        <p:xfrm>
          <a:off xmlns:a="http://schemas.openxmlformats.org/drawingml/2006/main" x="609600" y="2095500"/>
          <a:ext xmlns:a="http://schemas.openxmlformats.org/drawingml/2006/main" cx="5334000" cy="25717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424545"/>
                <a:gridCol w="2909455"/>
              </a:tblGrid>
              <a:tr h="428625">
                <a:tc>
                  <a:txBody>
                    <a:bodyPr/>
                    <a:lstStyle/>
                    <a:p>
                      <a:r>
                        <a:t>Dart exception</a:t>
                      </a:r>
                    </a:p>
                  </a:txBody>
                  <a:tcPr marL="91440" marR="91440" marT="45720" marB="45720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Android mapping</a:t>
                      </a:r>
                    </a:p>
                  </a:txBody>
                  <a:tcPr marL="91440" marR="91440" marT="45720" marB="45720">
                    <a:solidFill>
                      <a:srgbClr val="111827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r>
                        <a:t>InvalidArgument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bad or missing parameter</a:t>
                      </a:r>
                    </a:p>
                  </a:txBody>
                  <a:tcPr marL="91440" marR="91440" marT="45720" marB="45720"/>
                </a:tc>
              </a:tr>
              <a:tr h="428625">
                <a:tc>
                  <a:txBody>
                    <a:bodyPr/>
                    <a:lstStyle/>
                    <a:p>
                      <a:r>
                        <a:t>FunctionNotFound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unknown function id</a:t>
                      </a:r>
                    </a:p>
                  </a:txBody>
                  <a:tcPr marL="91440" marR="91440" marT="45720" marB="45720"/>
                </a:tc>
              </a:tr>
              <a:tr h="428625">
                <a:tc>
                  <a:txBody>
                    <a:bodyPr/>
                    <a:lstStyle/>
                    <a:p>
                      <a:r>
                        <a:t>ElementNotFound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missing app record</a:t>
                      </a:r>
                    </a:p>
                  </a:txBody>
                  <a:tcPr marL="91440" marR="91440" marT="45720" marB="45720"/>
                </a:tc>
              </a:tr>
              <a:tr h="428625">
                <a:tc>
                  <a:txBody>
                    <a:bodyPr/>
                    <a:lstStyle/>
                    <a:p>
                      <a:r>
                        <a:t>PermissionRequired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guarded app action</a:t>
                      </a:r>
                    </a:p>
                  </a:txBody>
                  <a:tcPr marL="91440" marR="91440" marT="45720" marB="45720"/>
                </a:tc>
              </a:tr>
              <a:tr h="428625">
                <a:tc>
                  <a:txBody>
                    <a:bodyPr/>
                    <a:lstStyle/>
                    <a:p>
                      <a:r>
                        <a:t>Disabled / Unknown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runtime or app failure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1B2340-9545-4185-9DB8-C4B283981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2669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DD844B-266E-49A7-B544-DBD067CC9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190750"/>
            <a:ext cx="42100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0A0F14"/>
                </a:solidFill>
              </a:defRPr>
            </a:pPr>
            <a:r>
              <a:rPr sz="1575">
                <a:solidFill>
                  <a:srgbClr val="0A0F14"/>
                </a:solidFill>
              </a:rPr>
              <a:t>JSON is the cross-language contract because current KSP restrictions prevent AppFunctionData as a direct @AppFunction parameter.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A08631-2858-48CB-B336-C2CF0BB2E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086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66B7E1-8883-466B-8149-B87E75F86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009900"/>
            <a:ext cx="42100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0A0F14"/>
                </a:solidFill>
              </a:defRPr>
            </a:pPr>
            <a:r>
              <a:rPr sz="1575">
                <a:solidFill>
                  <a:srgbClr val="0A0F14"/>
                </a:solidFill>
              </a:rPr>
              <a:t>The Dart method-channel path wraps typed errors as PlatformException codes.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30FA49-641A-43EA-B655-59712B7B4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9052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B3B4FC-CCFF-4796-B342-E84AF4BBE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829050"/>
            <a:ext cx="42100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0A0F14"/>
                </a:solidFill>
              </a:defRPr>
            </a:pPr>
            <a:r>
              <a:rPr sz="1575">
                <a:solidFill>
                  <a:srgbClr val="0A0F14"/>
                </a:solidFill>
              </a:rPr>
              <a:t>The Kotlin bridge maps those codes back to AndroidX AppFunction*Exception classes.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C44F33-2147-4C81-AC49-2CF1ACDA5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8650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>
                <a:solidFill>
                  <a:srgbClr val="4B5563"/>
                </a:solidFill>
              </a:defRPr>
            </a:pPr>
            <a:r>
              <a:rPr sz="1125">
                <a:solidFill>
                  <a:srgbClr val="4B5563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45324179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893E01D-B846-4A21-BFE7-F3037EF38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4B5563"/>
                </a:solidFill>
              </a:defRPr>
            </a:pPr>
            <a:r>
              <a:rPr sz="1200" b="1">
                <a:solidFill>
                  <a:srgbClr val="4B5563"/>
                </a:solidFill>
              </a:rPr>
              <a:t>FLUTTERCON PROJECT SHOWCASE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90BD12-B1DF-4145-B9AF-DABB2F9FB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23900"/>
            <a:ext cx="9144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0A0F14"/>
                </a:solidFill>
              </a:defRPr>
            </a:pPr>
            <a:r>
              <a:rPr sz="3300" b="1">
                <a:solidFill>
                  <a:srgbClr val="0A0F14"/>
                </a:solidFill>
              </a:rPr>
              <a:t>Takeaway for Flutter developers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DF20F4-B195-4298-8BAD-0087F368C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240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B6551E-7FA1-44D0-B2AF-B4F234883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33600"/>
            <a:ext cx="8001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A0F14"/>
                </a:solidFill>
              </a:defRPr>
            </a:pPr>
            <a:r>
              <a:rPr sz="3150" b="1">
                <a:solidFill>
                  <a:srgbClr val="0A0F14"/>
                </a:solidFill>
              </a:rPr>
              <a:t>On-device agents become much more useful when Flutter apps expose real app capabilities, not just screens.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8157A3-759A-4276-A96B-DFA2E7864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43350"/>
            <a:ext cx="3429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AF7"/>
          </a:solidFill>
          <a:ln xmlns:a="http://schemas.openxmlformats.org/drawingml/2006/main" w="0">
            <a:solidFill>
              <a:srgbClr val="E8FAF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4519D3-62A0-4ADD-901D-479C25BD9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719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A0F14"/>
                </a:solidFill>
              </a:defRPr>
            </a:pPr>
            <a:r>
              <a:rPr sz="1800" b="1">
                <a:solidFill>
                  <a:srgbClr val="0A0F14"/>
                </a:solidFill>
              </a:rPr>
              <a:t>Write in Dart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5202A7-D904-41EB-B01A-AD709140F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0"/>
            <a:ext cx="2800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4B5563"/>
                </a:solidFill>
              </a:defRPr>
            </a:pPr>
            <a:r>
              <a:rPr sz="1350">
                <a:solidFill>
                  <a:srgbClr val="4B5563"/>
                </a:solidFill>
              </a:rPr>
              <a:t>Keep product logic where the app already lives.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3EA24F-B47A-4CED-8596-7A67BE5F5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943350"/>
            <a:ext cx="3429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8F4"/>
          </a:solidFill>
          <a:ln xmlns:a="http://schemas.openxmlformats.org/drawingml/2006/main" w="0">
            <a:solidFill>
              <a:srgbClr val="F1F8F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45316B-849D-40EB-B45B-FDF2509FA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1719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A0F14"/>
                </a:solidFill>
              </a:defRPr>
            </a:pPr>
            <a:r>
              <a:rPr sz="1800" b="1">
                <a:solidFill>
                  <a:srgbClr val="0A0F14"/>
                </a:solidFill>
              </a:rPr>
              <a:t>Bridge once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10FE4C-784D-40C6-BA57-B50F449EA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572000"/>
            <a:ext cx="2800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4B5563"/>
                </a:solidFill>
              </a:defRPr>
            </a:pPr>
            <a:r>
              <a:rPr sz="1350">
                <a:solidFill>
                  <a:srgbClr val="4B5563"/>
                </a:solidFill>
              </a:rPr>
              <a:t>Use one Android App Function dispatcher.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B683F0-980E-40C6-95A8-C3FAD6056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943350"/>
            <a:ext cx="3429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ED"/>
          </a:solidFill>
          <a:ln xmlns:a="http://schemas.openxmlformats.org/drawingml/2006/main" w="0">
            <a:solidFill>
              <a:srgbClr val="FFF3E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BE2F29-C27C-4469-BB7E-1CC02CF54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1719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A0F14"/>
                </a:solidFill>
              </a:defRPr>
            </a:pPr>
            <a:r>
              <a:rPr sz="1800" b="1">
                <a:solidFill>
                  <a:srgbClr val="0A0F14"/>
                </a:solidFill>
              </a:rPr>
              <a:t>Demo live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A80626-3A4E-41C3-8655-1B4A3DC4C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572000"/>
            <a:ext cx="2800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4B5563"/>
                </a:solidFill>
              </a:defRPr>
            </a:pPr>
            <a:r>
              <a:rPr sz="1350">
                <a:solidFill>
                  <a:srgbClr val="4B5563"/>
                </a:solidFill>
              </a:rPr>
              <a:t>Prompt -&gt; function id -&gt; JSON -&gt; visible UI state.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32B24E-7DC1-453D-B05F-13FB0926E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81700"/>
            <a:ext cx="7048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4B5563"/>
                </a:solidFill>
              </a:defRPr>
            </a:pPr>
            <a:r>
              <a:rPr sz="1350">
                <a:solidFill>
                  <a:srgbClr val="4B5563"/>
                </a:solidFill>
              </a:rPr>
              <a:t>Repository: github.com/mohitkoley/flutter_app_functions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B2B7B55-DC0C-419A-AE9D-B8EF9A131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8650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>
                <a:solidFill>
                  <a:srgbClr val="4B5563"/>
                </a:solidFill>
              </a:defRPr>
            </a:pPr>
            <a:r>
              <a:rPr sz="1125">
                <a:solidFill>
                  <a:srgbClr val="4B5563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82267207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2026-08-11T06:12:38.3790000Z</dcterms:created>
  <dcterms:modified xsi:type="dcterms:W3CDTF">2026-08-11T06:12:38.3790000Z</dcterms:modified>
</coreProperties>
</file>