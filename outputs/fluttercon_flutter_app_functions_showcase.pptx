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f7e2d0b8a3416e" /><Relationship Type="http://schemas.openxmlformats.org/officeDocument/2006/relationships/extended-properties" Target="/docProps/app.xml" Id="R9af9cf26f34d4f67" /><Relationship Type="http://schemas.openxmlformats.org/officeDocument/2006/relationships/officeDocument" Target="/ppt/presentation.xml" Id="R54c2e04ef26342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8970318d254992"/>
  </p:sldMasterIdLst>
  <p:notesMasterIdLst>
    <p:notesMasterId xmlns:r="http://schemas.openxmlformats.org/officeDocument/2006/relationships" r:id="Rbd47f7c624d84387"/>
  </p:notesMasterIdLst>
  <p:sldIdLst>
    <p:sldId xmlns:r="http://schemas.openxmlformats.org/officeDocument/2006/relationships" id="256" r:id="R46785294cc6d4fee"/>
    <p:sldId xmlns:r="http://schemas.openxmlformats.org/officeDocument/2006/relationships" id="257" r:id="Rcfe031ec8f4e4f7d"/>
    <p:sldId xmlns:r="http://schemas.openxmlformats.org/officeDocument/2006/relationships" id="258" r:id="Rbf8d63792c2b4f86"/>
    <p:sldId xmlns:r="http://schemas.openxmlformats.org/officeDocument/2006/relationships" id="259" r:id="R7955fffed74144ba"/>
    <p:sldId xmlns:r="http://schemas.openxmlformats.org/officeDocument/2006/relationships" id="260" r:id="R97ee84b93eba4ba5"/>
    <p:sldId xmlns:r="http://schemas.openxmlformats.org/officeDocument/2006/relationships" id="261" r:id="Re89d0ca922d44654"/>
    <p:sldId xmlns:r="http://schemas.openxmlformats.org/officeDocument/2006/relationships" id="262" r:id="R5e6a72bf0c3a46cb"/>
    <p:sldId xmlns:r="http://schemas.openxmlformats.org/officeDocument/2006/relationships" id="263" r:id="R65fc8777514a42de"/>
    <p:sldId xmlns:r="http://schemas.openxmlformats.org/officeDocument/2006/relationships" id="264" r:id="R8de3c93745eb46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6172ac6bed4e54" /><Relationship Type="http://schemas.openxmlformats.org/officeDocument/2006/relationships/slideMaster" Target="/ppt/slideMasters/slideMaster1.xml" Id="R198970318d254992" /><Relationship Type="http://schemas.openxmlformats.org/officeDocument/2006/relationships/notesMaster" Target="/ppt/notesMasters/notesMaster1.xml" Id="Rbd47f7c624d84387" /><Relationship Type="http://schemas.openxmlformats.org/officeDocument/2006/relationships/presProps" Target="/ppt/presProps.xml" Id="Rcabc92aeb72a4377" /><Relationship Type="http://schemas.openxmlformats.org/officeDocument/2006/relationships/tableStyles" Target="/ppt/tableStyles.xml" Id="R16f4f684ebde41c9" /><Relationship Type="http://schemas.openxmlformats.org/officeDocument/2006/relationships/slide" Target="/ppt/slides/slide1.xml" Id="R46785294cc6d4fee" /><Relationship Type="http://schemas.openxmlformats.org/officeDocument/2006/relationships/slide" Target="/ppt/slides/slide2.xml" Id="Rcfe031ec8f4e4f7d" /><Relationship Type="http://schemas.openxmlformats.org/officeDocument/2006/relationships/slide" Target="/ppt/slides/slide3.xml" Id="Rbf8d63792c2b4f86" /><Relationship Type="http://schemas.openxmlformats.org/officeDocument/2006/relationships/slide" Target="/ppt/slides/slide4.xml" Id="R7955fffed74144ba" /><Relationship Type="http://schemas.openxmlformats.org/officeDocument/2006/relationships/slide" Target="/ppt/slides/slide5.xml" Id="R97ee84b93eba4ba5" /><Relationship Type="http://schemas.openxmlformats.org/officeDocument/2006/relationships/slide" Target="/ppt/slides/slide6.xml" Id="Re89d0ca922d44654" /><Relationship Type="http://schemas.openxmlformats.org/officeDocument/2006/relationships/slide" Target="/ppt/slides/slide7.xml" Id="R5e6a72bf0c3a46cb" /><Relationship Type="http://schemas.openxmlformats.org/officeDocument/2006/relationships/slide" Target="/ppt/slides/slide8.xml" Id="R65fc8777514a42de" /><Relationship Type="http://schemas.openxmlformats.org/officeDocument/2006/relationships/slide" Target="/ppt/slides/slide9.xml" Id="R8de3c93745eb46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7610c7f2b845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5a0f5088214b6e" /><Relationship Type="http://schemas.openxmlformats.org/officeDocument/2006/relationships/notesMaster" Target="/ppt/notesMasters/notesMaster1.xml" Id="R0fbed97ca72a4b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fb9731437241b7" /><Relationship Type="http://schemas.openxmlformats.org/officeDocument/2006/relationships/notesMaster" Target="/ppt/notesMasters/notesMaster1.xml" Id="R071a1e34d1614f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57fbe723ae4725" /><Relationship Type="http://schemas.openxmlformats.org/officeDocument/2006/relationships/notesMaster" Target="/ppt/notesMasters/notesMaster1.xml" Id="R750abb17f32041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30c3174fdd46b2" /><Relationship Type="http://schemas.openxmlformats.org/officeDocument/2006/relationships/notesMaster" Target="/ppt/notesMasters/notesMaster1.xml" Id="Ra0b26295d83c4c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f77f491de24f5e" /><Relationship Type="http://schemas.openxmlformats.org/officeDocument/2006/relationships/notesMaster" Target="/ppt/notesMasters/notesMaster1.xml" Id="Re674392c8bc042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f634ca0947450f" /><Relationship Type="http://schemas.openxmlformats.org/officeDocument/2006/relationships/notesMaster" Target="/ppt/notesMasters/notesMaster1.xml" Id="R99454537dcc142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e586f85549483e" /><Relationship Type="http://schemas.openxmlformats.org/officeDocument/2006/relationships/notesMaster" Target="/ppt/notesMasters/notesMaster1.xml" Id="R56d5df1e81be4a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29c5f6ee854a2f" /><Relationship Type="http://schemas.openxmlformats.org/officeDocument/2006/relationships/notesMaster" Target="/ppt/notesMasters/notesMaster1.xml" Id="R00a1350c803141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9a5d9a58a140f7" /><Relationship Type="http://schemas.openxmlformats.org/officeDocument/2006/relationships/notesMaster" Target="/ppt/notesMasters/notesMaster1.xml" Id="R97da813af1b645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033e859e043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51b7dcc80d4ca4" /><Relationship Type="http://schemas.openxmlformats.org/officeDocument/2006/relationships/slideLayout" Target="/ppt/slideLayouts/slideLayout1.xml" Id="R5ed20e274c344a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d20e274c344a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97afbfef54bbd" /><Relationship Type="http://schemas.openxmlformats.org/officeDocument/2006/relationships/image" Target="/ppt/media/image.png" Id="Reda05aac1cd5487b" /><Relationship Type="http://schemas.openxmlformats.org/officeDocument/2006/relationships/notesSlide" Target="/ppt/notesSlides/notesSlide1.xml" Id="R2d9076a1a1fe43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8eb7650154967" /><Relationship Type="http://schemas.openxmlformats.org/officeDocument/2006/relationships/notesSlide" Target="/ppt/notesSlides/notesSlide2.xml" Id="R2b0b4dec06314b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c8bdb874d4f3f" /><Relationship Type="http://schemas.openxmlformats.org/officeDocument/2006/relationships/notesSlide" Target="/ppt/notesSlides/notesSlide3.xml" Id="R29158216a4924f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f72b217ab458d" /><Relationship Type="http://schemas.openxmlformats.org/officeDocument/2006/relationships/notesSlide" Target="/ppt/notesSlides/notesSlide4.xml" Id="R8753836bc06c4c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dada010bf4369" /><Relationship Type="http://schemas.openxmlformats.org/officeDocument/2006/relationships/notesSlide" Target="/ppt/notesSlides/notesSlide5.xml" Id="R9c6faab1621f42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6d2fbd5f2421f" /><Relationship Type="http://schemas.openxmlformats.org/officeDocument/2006/relationships/notesSlide" Target="/ppt/notesSlides/notesSlide6.xml" Id="R0c9e1ecaa7634c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a44106ef84a60" /><Relationship Type="http://schemas.openxmlformats.org/officeDocument/2006/relationships/notesSlide" Target="/ppt/notesSlides/notesSlide7.xml" Id="R4b9543ce42624e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415c94ae84ee0" /><Relationship Type="http://schemas.openxmlformats.org/officeDocument/2006/relationships/notesSlide" Target="/ppt/notesSlides/notesSlide8.xml" Id="R4abdd331a9f74c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50a507c974e68" /><Relationship Type="http://schemas.openxmlformats.org/officeDocument/2006/relationships/notesSlide" Target="/ppt/notesSlides/notesSlide9.xml" Id="R9b8ea84caa154e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05aac1cd5487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39896-5739-4318-9A7F-CB284F7F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5997F-B0A1-4980-A024-4C81EF68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FLUTTERCON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F4EB3-5D72-495B-9B21-A70EA6A4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4762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A0F14"/>
                </a:solidFill>
              </a:defRPr>
            </a:pPr>
            <a:r>
              <a:rPr sz="4350" b="1">
                <a:solidFill>
                  <a:srgbClr val="0A0F14"/>
                </a:solidFill>
              </a:rPr>
              <a:t>Flutter App Functions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C311D-E677-416C-8F5E-E1365412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09950"/>
            <a:ext cx="4171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Expose Dart handlers as discoverable on-device Android App Functions.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28FA7-8B8B-4405-9B73-CDD40F1C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53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Project showcase deck</a:t>
            </a:r>
          </a:p>
        </p:txBody>
      </p:sp>
    </p:spTree>
    <p:extLst>
      <p:ext uri="{BB962C8B-B14F-4D97-AF65-F5344CB8AC3E}">
        <p14:creationId xmlns:p14="http://schemas.microsoft.com/office/powerpoint/2010/main" val="4659775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910ED2-40E9-40D8-B2FA-E0CEBA8F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FLUTTERCON PROJECT SHOWCASE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03184-D744-4501-A969-CD8E79D0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A0F14"/>
                </a:solidFill>
              </a:defRPr>
            </a:pPr>
            <a:r>
              <a:rPr sz="3300" b="1">
                <a:solidFill>
                  <a:srgbClr val="0A0F14"/>
                </a:solidFill>
              </a:rPr>
              <a:t>The gap this project closes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3D50B-D1CE-4162-95F4-667BABFF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9D45F-E6E1-4260-A188-91EC8845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A0F14"/>
                </a:solidFill>
              </a:defRPr>
            </a:pPr>
            <a:r>
              <a:rPr sz="2250" b="1">
                <a:solidFill>
                  <a:srgbClr val="0A0F14"/>
                </a:solidFill>
              </a:rPr>
              <a:t>Android is making app capabilities callable by on-device agents, but Flutter apps still keep most product logic in Dart.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1EEAB-D64F-45A9-AE5E-61E3425F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82012-96AF-4FDA-A615-8CBEDB0F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472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A0F14"/>
                </a:solidFill>
              </a:defRPr>
            </a:pPr>
            <a:r>
              <a:rPr sz="1650">
                <a:solidFill>
                  <a:srgbClr val="0A0F14"/>
                </a:solidFill>
              </a:rPr>
              <a:t>Native examples do not map cleanly to Flutter state, providers, stores, or existing Dart handlers.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CDCF6-2381-408A-9C5B-781E59D2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B75A2-C626-4147-B019-E278CB1A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472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A0F14"/>
                </a:solidFill>
              </a:defRPr>
            </a:pPr>
            <a:r>
              <a:rPr sz="1650">
                <a:solidFill>
                  <a:srgbClr val="0A0F14"/>
                </a:solidFill>
              </a:rPr>
              <a:t>Every new capability should not require another Kotlin rebuild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E5131-D147-498E-9F69-F6B90EE6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71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0B49B-368B-4842-B8A6-CE16B9C1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472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A0F14"/>
                </a:solidFill>
              </a:defRPr>
            </a:pPr>
            <a:r>
              <a:rPr sz="1650">
                <a:solidFill>
                  <a:srgbClr val="0A0F14"/>
                </a:solidFill>
              </a:rPr>
              <a:t>Agent calls need predictable typed errors, not ad hoc string failures.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2A4C0-E833-4BE9-89D1-EEC382A4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067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F7F9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842EF-4383-41C5-AF44-1CA2B817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F14"/>
                </a:solidFill>
              </a:defRPr>
            </a:pPr>
            <a:r>
              <a:rPr sz="1800" b="1">
                <a:solidFill>
                  <a:srgbClr val="0A0F14"/>
                </a:solidFill>
              </a:rPr>
              <a:t>Core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3972E-E8EF-4FA6-9F64-AB482FE0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Register once in Dart. Let Android discover a stable bridge. Keep the user-visible app state as the source of truth.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C852C-8155-4F5A-B20B-E538CB1D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84669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72C1F3-D9EE-49EF-9713-76456ADF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FLUTTERCON PROJECT SHOWCASE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72340-007E-4FB5-AEB2-0504BD91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A0F14"/>
                </a:solidFill>
              </a:defRPr>
            </a:pPr>
            <a:r>
              <a:rPr sz="3300" b="1">
                <a:solidFill>
                  <a:srgbClr val="0A0F14"/>
                </a:solidFill>
              </a:rPr>
              <a:t>What the package ships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D2E6F-72C5-4916-8420-F880DD0A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99B9D-C6B6-4E1A-B715-7B5A63D3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7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0">
            <a:solidFill>
              <a:srgbClr val="EEF2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5CC95-1E41-46E2-84D3-EDC69342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A0F14"/>
                </a:solidFill>
              </a:defRPr>
            </a:pPr>
            <a:r>
              <a:rPr sz="3750" b="1">
                <a:solidFill>
                  <a:srgbClr val="0A0F14"/>
                </a:solidFill>
              </a:rPr>
              <a:t>0.0.9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57EA0-257C-4BE3-97E3-CCC8B65E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F14"/>
                </a:solidFill>
              </a:defRPr>
            </a:pPr>
            <a:r>
              <a:rPr sz="1650" b="1">
                <a:solidFill>
                  <a:srgbClr val="0A0F14"/>
                </a:solidFill>
              </a:rPr>
              <a:t>Current package 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3AE02-60F4-4F27-A457-E7C371E2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pubspec release metadata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D8EF4-9B7D-4482-B2AB-7CD0389B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38350"/>
            <a:ext cx="257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0">
            <a:solidFill>
              <a:srgbClr val="EEF2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9792B-E989-4173-86DB-83CD56CD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860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A0F14"/>
                </a:solidFill>
              </a:defRPr>
            </a:pPr>
            <a:r>
              <a:rPr sz="3750" b="1">
                <a:solidFill>
                  <a:srgbClr val="0A0F14"/>
                </a:solidFill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279D5-5EDA-4B58-B99F-4D2A21E8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480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F14"/>
                </a:solidFill>
              </a:defRPr>
            </a:pPr>
            <a:r>
              <a:rPr sz="1650" b="1">
                <a:solidFill>
                  <a:srgbClr val="0A0F14"/>
                </a:solidFill>
              </a:rPr>
              <a:t>Typed parameter kinds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3F1EF-3F85-4423-A65B-ECE796DD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004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string, int64, double, bool, list, optional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5D907-C7EB-49B5-A54E-51D3D2DB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257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0">
            <a:solidFill>
              <a:srgbClr val="EEF2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C568E-110F-455E-BC67-191F423F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A0F14"/>
                </a:solidFill>
              </a:defRPr>
            </a:pPr>
            <a:r>
              <a:rPr sz="3750" b="1">
                <a:solidFill>
                  <a:srgbClr val="0A0F14"/>
                </a:solidFill>
              </a:rPr>
              <a:t>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FD8A4-6263-4477-9133-4F7CE3B0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80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F14"/>
                </a:solidFill>
              </a:defRPr>
            </a:pPr>
            <a:r>
              <a:rPr sz="1650" b="1">
                <a:solidFill>
                  <a:srgbClr val="0A0F14"/>
                </a:solidFill>
              </a:rPr>
              <a:t>Mirrored error types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BAFFD-34FD-4728-971C-832E31A3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04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Android AppFunction exceptions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68F20-E256-4779-9A9B-FAE19194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38350"/>
            <a:ext cx="2533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0">
            <a:solidFill>
              <a:srgbClr val="EEF2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FD343-7A88-415B-AF6E-04594912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8600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A0F14"/>
                </a:solidFill>
              </a:defRPr>
            </a:pPr>
            <a:r>
              <a:rPr sz="3750" b="1">
                <a:solidFill>
                  <a:srgbClr val="0A0F14"/>
                </a:solidFill>
              </a:rPr>
              <a:t>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65BC40-A04E-4747-830A-3AEF38E4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480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F14"/>
                </a:solidFill>
              </a:defRPr>
            </a:pPr>
            <a:r>
              <a:rPr sz="1650" b="1">
                <a:solidFill>
                  <a:srgbClr val="0A0F14"/>
                </a:solidFill>
              </a:rPr>
              <a:t>Passing Dart 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42E8D-5C69-4663-9255-A79E2751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004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flutter test verification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505DF-F93F-41D7-BB67-6CA4DC36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</a:defRPr>
            </a:pPr>
            <a:r>
              <a:rPr sz="1500">
                <a:solidFill>
                  <a:srgbClr val="4B5563"/>
                </a:solidFill>
              </a:rPr>
              <a:t>Android only: min SDK 24, compile SDK 36, AndroidX appfunctions 1.0.0-alpha09, Flutter 3.3.0+ / Dart 3.12.0+.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C59B4-98E9-4725-9B71-354AB6E5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6855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7E86A1-BA2F-47CC-95DF-0C592371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FLUTTERCON PROJECT SHOWCASE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26F6B-1B5F-45FE-B2EC-F25E8837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A0F14"/>
                </a:solidFill>
              </a:defRPr>
            </a:pPr>
            <a:r>
              <a:rPr sz="3300" b="1">
                <a:solidFill>
                  <a:srgbClr val="0A0F14"/>
                </a:solidFill>
              </a:rPr>
              <a:t>One native entry point, many Dart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BB21C-0DEC-4A04-8092-22DD2FE9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8BDF0-BD8A-48B4-879A-BA2AC599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2171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0">
            <a:solidFill>
              <a:srgbClr val="EEF2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0158B-9AE1-40F8-A951-0C12D928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F14"/>
                </a:solidFill>
              </a:defRPr>
            </a:pPr>
            <a:r>
              <a:rPr sz="1875" b="1">
                <a:solidFill>
                  <a:srgbClr val="0A0F14"/>
                </a:solidFill>
              </a:rPr>
              <a:t>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799A7-1428-41D3-8E29-1B85D5DC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Gemini or any caller using Android App Functions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F74A8-AC44-4B7B-B136-D0FB3B4E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33650"/>
            <a:ext cx="2171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0">
            <a:solidFill>
              <a:srgbClr val="EEF2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D6910-727B-4ECF-B6FF-D6262B64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194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F14"/>
                </a:solidFill>
              </a:defRPr>
            </a:pPr>
            <a:r>
              <a:rPr sz="1875" b="1">
                <a:solidFill>
                  <a:srgbClr val="0A0F14"/>
                </a:solidFill>
              </a:rPr>
              <a:t>Android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93782-1435-4FC1-B937-6C9ECDFE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5280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Discovers @AppFunction executeAppFunction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39A29-C54C-49D1-86D2-348B13E9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2171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0">
            <a:solidFill>
              <a:srgbClr val="EEF2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FB008-AFD5-47F0-BF8F-D9383C39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F14"/>
                </a:solidFill>
              </a:defRPr>
            </a:pPr>
            <a:r>
              <a:rPr sz="1875" b="1">
                <a:solidFill>
                  <a:srgbClr val="0A0F14"/>
                </a:solidFill>
              </a:rPr>
              <a:t>Kotlin bridge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19F71-8E8A-49F9-BC4C-89E4BCCC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Forwards functionId + parametersJson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D3209-2D94-4F47-A084-9765CF34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171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0">
            <a:solidFill>
              <a:srgbClr val="EEF2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D5127-C7D9-4F73-A7B9-EA30D476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194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F14"/>
                </a:solidFill>
              </a:defRPr>
            </a:pPr>
            <a:r>
              <a:rPr sz="1875" b="1">
                <a:solidFill>
                  <a:srgbClr val="0A0F14"/>
                </a:solidFill>
              </a:rPr>
              <a:t>Dart registry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A230F-22EC-4EA0-8B37-39DE0CD8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5280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Validates, invokes handler, returns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9C0CB-8503-4437-B5D3-03EB2E36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909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B8A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EAA58-68EA-4DCE-A2AC-003E8266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909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B8A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1E37F-1C28-4D07-9B66-5AB90984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B8A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1BB78-B272-4247-85DD-908843F2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F14"/>
                </a:solidFill>
              </a:defRPr>
            </a:pPr>
            <a:r>
              <a:rPr sz="1800" b="1">
                <a:solidFill>
                  <a:srgbClr val="0A0F14"/>
                </a:solidFill>
              </a:rPr>
              <a:t>Why this matters: app teams add or remove capabilities in Dart without duplicating business logic in Kotlin.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18953-FE49-4E1B-8023-7FA4E357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283862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A2D94E-5928-4766-B3D7-45C5A5C1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FLUTTERCON PROJECT SHOWCASE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974E6-15B5-4DC4-B15C-30E68366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A0F14"/>
                </a:solidFill>
              </a:defRPr>
            </a:pPr>
            <a:r>
              <a:rPr sz="3300" b="1">
                <a:solidFill>
                  <a:srgbClr val="0A0F14"/>
                </a:solidFill>
              </a:rPr>
              <a:t>The developer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2754A-1548-458C-8AE3-30272B9D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24316-D0B2-4985-9D90-53DC12E6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9626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AB2BF-0FB3-4285-9DE1-A906CB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5435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FlutterAppFunctions.instance.register(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AppFunctionDefinition(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id: 'createTask',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description: 'Creates a task.',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parameters: [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  AppFunctionParameter.string('title'),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  AppFunctionParameter.optionalString('notes'),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],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returnType: AppFunctionReturnType.string,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handler: (ctx, params) async {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  return 'Created: ${params['title']}';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},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),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);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C782A-FD01-4244-9706-436075C3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05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84"/>
          </a:solidFill>
          <a:ln xmlns:a="http://schemas.openxmlformats.org/drawingml/2006/main" w="0">
            <a:solidFill>
              <a:srgbClr val="3DDC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24F43-1F78-442E-A102-3A713DE7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28850"/>
            <a:ext cx="4114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A0F14"/>
                </a:solidFill>
              </a:defRPr>
            </a:pPr>
            <a:r>
              <a:rPr sz="1650">
                <a:solidFill>
                  <a:srgbClr val="0A0F14"/>
                </a:solidFill>
              </a:rPr>
              <a:t>Function definition is plain Dart: id, description, parameters, return type, handler.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39E9F-06D0-427D-827C-35F82E13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84"/>
          </a:solidFill>
          <a:ln xmlns:a="http://schemas.openxmlformats.org/drawingml/2006/main" w="0">
            <a:solidFill>
              <a:srgbClr val="3DDC8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10BA1-9168-43A8-917F-03E34745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4114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A0F14"/>
                </a:solidFill>
              </a:defRPr>
            </a:pPr>
            <a:r>
              <a:rPr sz="1650">
                <a:solidFill>
                  <a:srgbClr val="0A0F14"/>
                </a:solidFill>
              </a:rPr>
              <a:t>Registry validates required fields, unknown parameters, enum values, and scalar types.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D526E-E40F-43D0-9DD9-4A70355D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57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84"/>
          </a:solidFill>
          <a:ln xmlns:a="http://schemas.openxmlformats.org/drawingml/2006/main" w="0">
            <a:solidFill>
              <a:srgbClr val="3DD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8EC66-F8BA-4EFB-B205-CB97DB72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81450"/>
            <a:ext cx="4114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A0F14"/>
                </a:solidFill>
              </a:defRPr>
            </a:pPr>
            <a:r>
              <a:rPr sz="1650">
                <a:solidFill>
                  <a:srgbClr val="0A0F14"/>
                </a:solidFill>
              </a:rPr>
              <a:t>Handlers can mutate the same Flutter app state the visible UI already uses.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32205-8FDD-4752-938A-26F5D912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42517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5B2645-FEE1-44ED-AE9A-19961C4A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FLUTTERCON PROJECT SHOWCASE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E7B06-5540-49B9-922F-2559910B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A0F14"/>
                </a:solidFill>
              </a:defRPr>
            </a:pPr>
            <a:r>
              <a:rPr sz="3300" b="1">
                <a:solidFill>
                  <a:srgbClr val="0A0F14"/>
                </a:solidFill>
              </a:rPr>
              <a:t>Android host wiring stays small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18D33-5BA7-4C93-A214-C49B0F50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168DC-1243-4A06-BAFC-BBFDBA6E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3221A-2EFC-48E9-BCB4-CAD3DAC7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4533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class MyApplication :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FlutterAppFunctionsApplication()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&lt;application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android:name=".MyApplication"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appfn:description="@string/appfn_description"</a:t>
            </a:r>
          </a:p>
          <a:p xmlns:a="http://schemas.openxmlformats.org/drawingml/2006/main">
            <a:pPr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appfn:displayDescription="@string/appfn_display_description"&gt;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F8D4F-F952-4EB2-895C-456AA7CF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F7F9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BDB84-E148-4470-B962-ADEC2F34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1935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F14"/>
                </a:solidFill>
              </a:defRPr>
            </a:pPr>
            <a:r>
              <a:rPr sz="1800" b="1">
                <a:solidFill>
                  <a:srgbClr val="0A0F14"/>
                </a:solidFill>
              </a:rPr>
              <a:t>The plugin supplies service metadata, permission, MethodChannel, KSP setup, and bridge registration.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059C7-624B-4F2E-B5FA-1B3DB4A4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29050"/>
            <a:ext cx="3676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B5563"/>
                </a:solidFill>
              </a:defRPr>
            </a:pPr>
            <a:r>
              <a:rPr sz="1425">
                <a:solidFill>
                  <a:srgbClr val="4B5563"/>
                </a:solidFill>
              </a:rPr>
              <a:t>Host apps add descriptions and extend the base Application class.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4CF12-9B04-4885-BDF3-8DD38790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368513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C43A22-4CE2-4296-B32F-38910117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FLUTTERCON PROJECT SHOWCASE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5D160-4446-425E-AE35-026AAE8B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A0F14"/>
                </a:solidFill>
              </a:defRPr>
            </a:pPr>
            <a:r>
              <a:rPr sz="3300" b="1">
                <a:solidFill>
                  <a:srgbClr val="0A0F14"/>
                </a:solidFill>
              </a:rPr>
              <a:t>FlutterCon demo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792A0-FD8F-417A-A633-A9FBC3A4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5465B-AA84-4EEC-B3C1-22C546EC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E6DF4-9D87-4DA1-918B-31B72186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B8A9"/>
                </a:solidFill>
              </a:defRPr>
            </a:pPr>
            <a:r>
              <a:rPr sz="3900" b="1">
                <a:solidFill>
                  <a:srgbClr val="00B8A9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F659C-35D9-43CB-BDAA-0A9A54D8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F14"/>
                </a:solidFill>
              </a:defRPr>
            </a:pPr>
            <a:r>
              <a:rPr sz="1875" b="1">
                <a:solidFill>
                  <a:srgbClr val="0A0F14"/>
                </a:solidFill>
              </a:rPr>
              <a:t>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8BF2F-94B1-44BA-B7D7-0A47E4A5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Remind me to pick up my package at work today at 5 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17439-47E1-4916-BA3E-325C5941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813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B8A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DA3FA-5115-4396-AE0D-E2F0352B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0">
            <a:solidFill>
              <a:srgbClr val="EEF2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BD36A-AB10-4E1D-87BB-BC17CC7A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A0F14"/>
                </a:solidFill>
              </a:defRPr>
            </a:pPr>
            <a:r>
              <a:rPr sz="3900" b="1">
                <a:solidFill>
                  <a:srgbClr val="0A0F14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54DA6-0EF3-438D-A2F1-9833D4DF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051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F14"/>
                </a:solidFill>
              </a:defRPr>
            </a:pPr>
            <a:r>
              <a:rPr sz="1875" b="1">
                <a:solidFill>
                  <a:srgbClr val="0A0F14"/>
                </a:solidFill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F722C-D599-4EA1-9644-A614977B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8140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Demo agent maps prompt to createTask + JSON parameters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76B0E-62D3-4A1C-8455-246C412F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813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B8A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79397-9299-48CD-9AE1-B6192C2C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0">
            <a:solidFill>
              <a:srgbClr val="EEF2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C5C5A-E97B-40ED-B2AF-C3179DD9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A0F14"/>
                </a:solidFill>
              </a:defRPr>
            </a:pPr>
            <a:r>
              <a:rPr sz="3900" b="1">
                <a:solidFill>
                  <a:srgbClr val="0A0F14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370A7-1BEC-4F03-8AD8-6FC394B2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F14"/>
                </a:solidFill>
              </a:defRPr>
            </a:pPr>
            <a:r>
              <a:rPr sz="1875" b="1">
                <a:solidFill>
                  <a:srgbClr val="0A0F14"/>
                </a:solidFill>
              </a:rPr>
              <a:t>Invoke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E055E-CE89-4038-AA63-F7948F81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8140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FlutterAppFunctions.instance.invoke hits the same registry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B1C96-0523-44C3-BA87-61AA5499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813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B8A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CA643-E7A9-4C68-8BA6-76109573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90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0">
            <a:solidFill>
              <a:srgbClr val="EEF2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ED76AD-9A74-4C72-A369-1B0E7E7A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A0F14"/>
                </a:solidFill>
              </a:defRPr>
            </a:pPr>
            <a:r>
              <a:rPr sz="3900" b="1">
                <a:solidFill>
                  <a:srgbClr val="0A0F14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6CFA6-AC44-4096-A8D4-BA97E869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051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F14"/>
                </a:solidFill>
              </a:defRPr>
            </a:pPr>
            <a:r>
              <a:rPr sz="1875" b="1">
                <a:solidFill>
                  <a:srgbClr val="0A0F14"/>
                </a:solidFill>
              </a:rPr>
              <a:t>Update UI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2AB3D-D507-474B-81DC-6A69FAF2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8140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Demo store mutates, logs result, visible app state rebuilds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144FA1-CCE1-48E2-89C2-BC52A8BB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Example app registers: createTask, addItemsToShoppingList, completeTask, summarizeToday.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B9B310-6760-4BA3-BF32-26A102EF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5749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494817-FC50-420C-A11F-ECAE21A2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FLUTTERCON PROJECT SHOWCASE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2A524-D292-4756-97E8-75C4909E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A0F14"/>
                </a:solidFill>
              </a:defRPr>
            </a:pPr>
            <a:r>
              <a:rPr sz="3300" b="1">
                <a:solidFill>
                  <a:srgbClr val="0A0F14"/>
                </a:solidFill>
              </a:rPr>
              <a:t>Reliability comes from matching Android semantics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AF68E-43D5-43EF-BF2B-D6DB2375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53340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24545"/>
                <a:gridCol w="2909455"/>
              </a:tblGrid>
              <a:tr h="4286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Dart exception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Android mapping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A0F14"/>
                          </a:solidFill>
                        </a:rPr>
                        <a:t>InvalidArgument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A0F14"/>
                          </a:solidFill>
                        </a:rPr>
                        <a:t>bad or missing parameter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A0F14"/>
                          </a:solidFill>
                        </a:rPr>
                        <a:t>FunctionNotFound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A0F14"/>
                          </a:solidFill>
                        </a:rPr>
                        <a:t>unknown function id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A0F14"/>
                          </a:solidFill>
                        </a:rPr>
                        <a:t>ElementNotFound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A0F14"/>
                          </a:solidFill>
                        </a:rPr>
                        <a:t>missing app record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A0F14"/>
                          </a:solidFill>
                        </a:rPr>
                        <a:t>PermissionRequired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A0F14"/>
                          </a:solidFill>
                        </a:rPr>
                        <a:t>guarded app action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A0F14"/>
                          </a:solidFill>
                        </a:rPr>
                        <a:t>Disabled / Unknown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A0F14"/>
                          </a:solidFill>
                        </a:rPr>
                        <a:t>runtime or app failure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8C139-E8FE-4D32-931B-B45FCD06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420A3-C2C5-4C7D-A686-18E81A97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A0F14"/>
                </a:solidFill>
              </a:defRPr>
            </a:pPr>
            <a:r>
              <a:rPr sz="1500">
                <a:solidFill>
                  <a:srgbClr val="0A0F14"/>
                </a:solidFill>
              </a:rPr>
              <a:t>JSON is the cross-language contract while KSP limits direct AppFunctionData parameters.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F56FA-119A-4DED-86E8-3BC0FD9C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4E495-BC80-4DB8-AF95-F3299B7D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051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A0F14"/>
                </a:solidFill>
              </a:defRPr>
            </a:pPr>
            <a:r>
              <a:rPr sz="1500">
                <a:solidFill>
                  <a:srgbClr val="0A0F14"/>
                </a:solidFill>
              </a:rPr>
              <a:t>Dart wraps typed errors as stable PlatformException codes.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F9C4A-7A88-4FF7-82C4-8C97641E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914C4-9497-469E-AB00-7A223526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195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A0F14"/>
                </a:solidFill>
              </a:defRPr>
            </a:pPr>
            <a:r>
              <a:rPr sz="1500">
                <a:solidFill>
                  <a:srgbClr val="0A0F14"/>
                </a:solidFill>
              </a:rPr>
              <a:t>Kotlin maps those codes back to AndroidX AppFunction*Exception classes.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5C1F7-D2FD-44DC-B1A2-2396BE5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991911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3ADD3B-FFAF-42D2-9CA5-A7DE4299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FLUTTERCON PROJECT SHOWCASE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EC688-155E-4D0C-A7C9-78B74C64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A0F14"/>
                </a:solidFill>
              </a:defRPr>
            </a:pPr>
            <a:r>
              <a:rPr sz="3300" b="1">
                <a:solidFill>
                  <a:srgbClr val="0A0F14"/>
                </a:solidFill>
              </a:rPr>
              <a:t>Takeaway for Flutter developers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AA6DF-11DE-47CD-9BC4-E8B5AA95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BBAB4-4EB9-4866-BB13-F69EC083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A0F14"/>
                </a:solidFill>
              </a:defRPr>
            </a:pPr>
            <a:r>
              <a:rPr sz="3150" b="1">
                <a:solidFill>
                  <a:srgbClr val="0A0F14"/>
                </a:solidFill>
              </a:rPr>
              <a:t>On-device agents become much more useful when Flutter apps expose real app capabilities, not just screens.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11BAC-20D7-4F20-B2E8-268F432B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F3490-60C0-4EBB-B1C4-8325DFD6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F14"/>
                </a:solidFill>
              </a:defRPr>
            </a:pPr>
            <a:r>
              <a:rPr sz="1800" b="1">
                <a:solidFill>
                  <a:srgbClr val="0A0F14"/>
                </a:solidFill>
              </a:rPr>
              <a:t>Write in Dart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C11B9-DBAA-40A9-BB4C-8BD87ED1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Keep product logic where the app already lives.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0DE7C-780D-46D4-849D-81DAECBF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4335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4"/>
          </a:solidFill>
          <a:ln xmlns:a="http://schemas.openxmlformats.org/drawingml/2006/main" w="0">
            <a:solidFill>
              <a:srgbClr val="F1F8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907A5-D452-455B-B39E-455A1846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7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F14"/>
                </a:solidFill>
              </a:defRPr>
            </a:pPr>
            <a:r>
              <a:rPr sz="1800" b="1">
                <a:solidFill>
                  <a:srgbClr val="0A0F14"/>
                </a:solidFill>
              </a:rPr>
              <a:t>Bridge once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BE0F1-9178-4ADD-B163-AE098E0B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720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Use one Android App Function dispatcher.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E31FB-B010-4F94-B3F8-85D1875B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0">
            <a:solidFill>
              <a:srgbClr val="FFF3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3B7A6-73AF-45B4-86DC-A5BE1732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7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F14"/>
                </a:solidFill>
              </a:defRPr>
            </a:pPr>
            <a:r>
              <a:rPr sz="1800" b="1">
                <a:solidFill>
                  <a:srgbClr val="0A0F14"/>
                </a:solidFill>
              </a:rPr>
              <a:t>Demo 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9FA62-E32A-4E65-8042-635CD1E5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720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Prompt -&gt; function id -&gt; JSON -&gt; visible UI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4670F-23DA-4077-AAAE-F8A6068A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Repository: github.com/mohitkoley/flutter_app_functions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CB2E5-59B3-4D09-B917-2FD3C815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326328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2026-08-11T06:14:53.1800000Z</dcterms:created>
  <dcterms:modified xsi:type="dcterms:W3CDTF">2026-08-11T06:14:53.1800000Z</dcterms:modified>
</coreProperties>
</file>